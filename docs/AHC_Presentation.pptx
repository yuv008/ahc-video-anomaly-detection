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8A3D"/>
                </a:solidFill>
                <a:latin typeface="Consolas"/>
              </a:rPr>
              <a:t>AHC VISUAL INTELLIGENCE HACKATHON · SLIDE 1 OF 2 —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4712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E6EDF6"/>
                </a:solidFill>
                <a:latin typeface="Calibri"/>
              </a:rPr>
              <a:t>A small VLM decides windows; a second model's confidence filters false alarms; a cheap aggregator turns both into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494A8"/>
                </a:solidFill>
                <a:latin typeface="Calibri"/>
              </a:rPr>
              <a:t>Nothing large runs at inference. Every number below is measured on the actual Tesla T4, not assumed.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2724912" cy="1298448"/>
          </a:xfrm>
          <a:prstGeom prst="rect">
            <a:avLst/>
          </a:prstGeom>
          <a:solidFill>
            <a:srgbClr val="1D2836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2724912" cy="32004"/>
          </a:xfrm>
          <a:prstGeom prst="rect">
            <a:avLst/>
          </a:prstGeom>
          <a:solidFill>
            <a:srgbClr val="2A3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47672"/>
            <a:ext cx="2505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494A8"/>
                </a:solidFill>
                <a:latin typeface="Consolas"/>
              </a:rPr>
              <a:t>STAGE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21408"/>
            <a:ext cx="2505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DF6"/>
                </a:solidFill>
                <a:latin typeface="Calibri"/>
              </a:rPr>
              <a:t>Window sampler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41448"/>
            <a:ext cx="250545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494A8"/>
                </a:solidFill>
                <a:latin typeface="Calibri"/>
              </a:rPr>
              <a:t>4s windows, no overlap, 8 frames. 50% overlap measured strictly worse: same F1, worse boundary IoU, 2x compute.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98648"/>
            <a:ext cx="25054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5C2A0"/>
                </a:solidFill>
                <a:latin typeface="Consolas"/>
              </a:rPr>
              <a:t>4s budget / window / feed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874519"/>
            <a:ext cx="2724912" cy="1298448"/>
          </a:xfrm>
          <a:prstGeom prst="rect">
            <a:avLst/>
          </a:prstGeom>
          <a:solidFill>
            <a:srgbClr val="1D2836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1874519"/>
            <a:ext cx="2724912" cy="3200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947672"/>
            <a:ext cx="2505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494A8"/>
                </a:solidFill>
                <a:latin typeface="Consolas"/>
              </a:rP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121408"/>
            <a:ext cx="2505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DF6"/>
                </a:solidFill>
                <a:latin typeface="Calibri"/>
              </a:rPr>
              <a:t>Qwen3-VL-8B - 4-bit LoRA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41448"/>
            <a:ext cx="250545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494A8"/>
                </a:solidFill>
                <a:latin typeface="Calibri"/>
              </a:rPr>
              <a:t>LoRA r=32, vision tower frozen, fp16. Emits minimal JSON; scores read from token logprobs, not the string.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98648"/>
            <a:ext cx="25054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5C2A0"/>
                </a:solidFill>
                <a:latin typeface="Consolas"/>
              </a:rPr>
              <a:t>~4.3s / window on T4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904" y="1874519"/>
            <a:ext cx="2724912" cy="1298448"/>
          </a:xfrm>
          <a:prstGeom prst="rect">
            <a:avLst/>
          </a:prstGeom>
          <a:solidFill>
            <a:srgbClr val="1D2836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74519"/>
            <a:ext cx="2724912" cy="3200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947672"/>
            <a:ext cx="2505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494A8"/>
                </a:solidFill>
                <a:latin typeface="Consolas"/>
              </a:rPr>
              <a:t>STAGE 2.5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121408"/>
            <a:ext cx="2505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DF6"/>
                </a:solidFill>
                <a:latin typeface="Calibri"/>
              </a:rPr>
              <a:t>Cosmos-Embed1 confidence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2441448"/>
            <a:ext cx="250545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494A8"/>
                </a:solidFill>
                <a:latin typeface="Calibri"/>
              </a:rPr>
              <a:t>VETOES Qwen's "anomalous" calls it isn't itself &gt;=95% confident about. A filter on Qwen, not a second classifier.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898648"/>
            <a:ext cx="25054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5C2A0"/>
                </a:solidFill>
                <a:latin typeface="Consolas"/>
              </a:rPr>
              <a:t>shipped - +9%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6256" y="1874519"/>
            <a:ext cx="2724912" cy="1298448"/>
          </a:xfrm>
          <a:prstGeom prst="rect">
            <a:avLst/>
          </a:prstGeom>
          <a:solidFill>
            <a:srgbClr val="1D2836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6256" y="1874519"/>
            <a:ext cx="2724912" cy="32004"/>
          </a:xfrm>
          <a:prstGeom prst="rect">
            <a:avLst/>
          </a:prstGeom>
          <a:solidFill>
            <a:srgbClr val="2A3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1947672"/>
            <a:ext cx="2505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494A8"/>
                </a:solidFill>
                <a:latin typeface="Consolas"/>
              </a:rPr>
              <a:t>STAGE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121408"/>
            <a:ext cx="2505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DF6"/>
                </a:solidFill>
                <a:latin typeface="Calibri"/>
              </a:rPr>
              <a:t>Temporal aggregator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2441448"/>
            <a:ext cx="250545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494A8"/>
                </a:solidFill>
                <a:latin typeface="Calibri"/>
              </a:rPr>
              <a:t>Hysteresis + merge-gap + midpoint boundary shrink turns window verdicts into a clean event list.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2898648"/>
            <a:ext cx="25054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5C2A0"/>
                </a:solidFill>
                <a:latin typeface="Consolas"/>
              </a:rPr>
              <a:t>CPU only, free to re-tune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10128"/>
            <a:ext cx="6537960" cy="3063240"/>
          </a:xfrm>
          <a:prstGeom prst="rect">
            <a:avLst/>
          </a:prstGeom>
          <a:solidFill>
            <a:srgbClr val="1D2836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438144"/>
            <a:ext cx="6208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8494A8"/>
                </a:solidFill>
                <a:latin typeface="Consolas"/>
              </a:rPr>
              <a:t>THE TRAP THE DATA SETS — WHY TIMESTAMPS COME FROM THE AGGREGATOR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3749039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494A8"/>
                </a:solidFill>
                <a:latin typeface="Consolas"/>
              </a:rPr>
              <a:t>train clip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3749039"/>
            <a:ext cx="5303520" cy="201168"/>
          </a:xfrm>
          <a:prstGeom prst="rect">
            <a:avLst/>
          </a:prstGeom>
          <a:solidFill>
            <a:srgbClr val="161F2B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3040" y="3749039"/>
            <a:ext cx="5303520" cy="201168"/>
          </a:xfrm>
          <a:prstGeom prst="rect">
            <a:avLst/>
          </a:prstGeom>
          <a:solidFill>
            <a:srgbClr val="FF8A3D"/>
          </a:solidFill>
          <a:ln w="952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069079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494A8"/>
                </a:solidFill>
                <a:latin typeface="Consolas"/>
              </a:rPr>
              <a:t>test L2/L3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4069079"/>
            <a:ext cx="5303520" cy="201168"/>
          </a:xfrm>
          <a:prstGeom prst="rect">
            <a:avLst/>
          </a:prstGeom>
          <a:solidFill>
            <a:srgbClr val="161F2B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87321" y="4069079"/>
            <a:ext cx="265176" cy="201168"/>
          </a:xfrm>
          <a:prstGeom prst="rect">
            <a:avLst/>
          </a:prstGeom>
          <a:solidFill>
            <a:srgbClr val="FF8A3D"/>
          </a:solidFill>
          <a:ln w="952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94990" y="4069079"/>
            <a:ext cx="424281" cy="201168"/>
          </a:xfrm>
          <a:prstGeom prst="rect">
            <a:avLst/>
          </a:prstGeom>
          <a:solidFill>
            <a:srgbClr val="FF8A3D"/>
          </a:solidFill>
          <a:ln w="952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1222" y="4069079"/>
            <a:ext cx="212140" cy="201168"/>
          </a:xfrm>
          <a:prstGeom prst="rect">
            <a:avLst/>
          </a:prstGeom>
          <a:solidFill>
            <a:srgbClr val="FF8A3D"/>
          </a:solidFill>
          <a:ln w="952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05856" y="4069079"/>
            <a:ext cx="318211" cy="201168"/>
          </a:xfrm>
          <a:prstGeom prst="rect">
            <a:avLst/>
          </a:prstGeom>
          <a:solidFill>
            <a:srgbClr val="FF8A3D"/>
          </a:solidFill>
          <a:ln w="952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4370831"/>
            <a:ext cx="6208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494A8"/>
                </a:solidFill>
                <a:latin typeface="Calibri"/>
              </a:rPr>
              <a:t>Training clips are pre-trimmed: the event fills </a:t>
            </a:r>
            <a:r>
              <a:rPr sz="1050" b="1">
                <a:solidFill>
                  <a:srgbClr val="E6EDF6"/>
                </a:solidFill>
                <a:latin typeface="Calibri"/>
              </a:rPr>
              <a:t>99.9%</a:t>
            </a:r>
            <a:r>
              <a:rPr sz="1050" b="0">
                <a:solidFill>
                  <a:srgbClr val="8494A8"/>
                </a:solidFill>
                <a:latin typeface="Calibri"/>
              </a:rPr>
              <a:t> of the median clip. Real Level-2/3 footage is </a:t>
            </a:r>
            <a:r>
              <a:rPr sz="1050" b="1">
                <a:solidFill>
                  <a:srgbClr val="E6EDF6"/>
                </a:solidFill>
                <a:latin typeface="Calibri"/>
              </a:rPr>
              <a:t>7.7%</a:t>
            </a:r>
            <a:r>
              <a:rPr sz="1050" b="0">
                <a:solidFill>
                  <a:srgbClr val="8494A8"/>
                </a:solidFill>
                <a:latin typeface="Calibri"/>
              </a:rPr>
              <a:t> anomaly. Trained naively, a model learns "a clip was shown to me =&gt; something is wrong" and fires continuously.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8494A8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8494A8"/>
                </a:solidFill>
                <a:latin typeface="Calibri"/>
              </a:rPr>
              <a:t>Fix: window labels come from </a:t>
            </a:r>
            <a:r>
              <a:rPr sz="1050" b="1">
                <a:solidFill>
                  <a:srgbClr val="E6EDF6"/>
                </a:solidFill>
                <a:latin typeface="Calibri"/>
              </a:rPr>
              <a:t>temporal overlap</a:t>
            </a:r>
            <a:r>
              <a:rPr sz="1050" b="0">
                <a:solidFill>
                  <a:srgbClr val="8494A8"/>
                </a:solidFill>
                <a:latin typeface="Calibri"/>
              </a:rPr>
              <a:t> with the annotation, not the folder a clip sits in - recovered 1,604 genuine background windows from inside anomaly clips. The model never predicts timestamps at all (no sub-clip localisation signal exists in training data to learn that from).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14032" y="3310128"/>
            <a:ext cx="4617720" cy="3063240"/>
          </a:xfrm>
          <a:prstGeom prst="rect">
            <a:avLst/>
          </a:prstGeom>
          <a:solidFill>
            <a:srgbClr val="1D2836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78624" y="3438144"/>
            <a:ext cx="4288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8494A8"/>
                </a:solidFill>
                <a:latin typeface="Consolas"/>
              </a:rPr>
              <a:t>MODEL CHOICES — REASONED, NOT ASSUMED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7278624" y="3767328"/>
          <a:ext cx="4133088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868680"/>
                <a:gridCol w="1847088"/>
              </a:tblGrid>
              <a:tr h="4038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8494A8"/>
                          </a:solidFill>
                          <a:latin typeface="Calibri"/>
                        </a:rPr>
                        <a:t>TRIED</a:t>
                      </a:r>
                    </a:p>
                  </a:txBody>
                  <a:tcPr marL="54864" marR="54864" marT="18288" marB="18288" anchor="ctr">
                    <a:solidFill>
                      <a:srgbClr val="1D28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8494A8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4864" marR="54864" marT="18288" marB="18288" anchor="ctr">
                    <a:solidFill>
                      <a:srgbClr val="1D28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8494A8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54864" marR="54864" marT="18288" marB="18288" anchor="ctr">
                    <a:solidFill>
                      <a:srgbClr val="1D2836"/>
                    </a:solidFill>
                  </a:tcPr>
                </a:tc>
              </a:tr>
              <a:tr h="4038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6"/>
                          </a:solidFill>
                          <a:latin typeface="Calibri"/>
                        </a:rPr>
                        <a:t>Qwen2.5-VL-3B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5C5C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494A8"/>
                          </a:solidFill>
                          <a:latin typeface="Calibri"/>
                        </a:rPr>
                        <a:t>slower than 7B: 36 layers vs 28, depth dominates at batch 1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</a:tr>
              <a:tr h="4038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6"/>
                          </a:solidFill>
                          <a:latin typeface="Calibri"/>
                        </a:rPr>
                        <a:t>bf16 precision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5C5C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494A8"/>
                          </a:solidFill>
                          <a:latin typeface="Calibri"/>
                        </a:rPr>
                        <a:t>T4 emulates it: 2.28 vs fp16 20.98 TFLOP/s - 9x slower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</a:tr>
              <a:tr h="4038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6"/>
                          </a:solidFill>
                          <a:latin typeface="Calibri"/>
                        </a:rPr>
                        <a:t>720p uncapped frames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5C5C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494A8"/>
                          </a:solidFill>
                          <a:latin typeface="Calibri"/>
                        </a:rPr>
                        <a:t>1,196 tok/frame -&gt; 17.8s/window; 256 cap = 5x speedup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</a:tr>
              <a:tr h="4038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6"/>
                          </a:solidFill>
                          <a:latin typeface="Calibri"/>
                        </a:rPr>
                        <a:t>Qwen3.5 (used by #1 team)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5C5C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494A8"/>
                          </a:solidFill>
                          <a:latin typeface="Calibri"/>
                        </a:rPr>
                        <a:t>no 4-bit trainer build; gap to our pick is 0.0009 - noise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</a:tr>
              <a:tr h="40386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E6EDF6"/>
                          </a:solidFill>
                          <a:latin typeface="Calibri"/>
                        </a:rPr>
                        <a:t>Qwen3-VL-8B, 4-bit LoRA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5C2A0"/>
                          </a:solidFill>
                          <a:latin typeface="Calibri"/>
                        </a:rPr>
                        <a:t>SHIPPED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494A8"/>
                          </a:solidFill>
                          <a:latin typeface="Calibri"/>
                        </a:rPr>
                        <a:t>every top AI-City-2026 team runs a ~8B Qwen VLM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</a:tr>
            </a:tbl>
          </a:graphicData>
        </a:graphic>
      </p:graphicFrame>
      <p:cxnSp>
        <p:nvCxnSpPr>
          <p:cNvPr id="44" name="Connector 43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2A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494A8"/>
                </a:solidFill>
                <a:latin typeface="Consolas"/>
              </a:rPr>
              <a:t>Qwen3-VL-8B · 4-bit · LoRA r=32 · fp16 · Cosmos-Embed1 gate · Tesla T4 16GB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6565392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494A8"/>
                </a:solidFill>
                <a:latin typeface="Consolas"/>
              </a:rPr>
              <a:t>no hosted model at inference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8A3D"/>
                </a:solidFill>
                <a:latin typeface="Consolas"/>
              </a:rPr>
              <a:t>SLIDE 2 OF 2 — EXPERIMENTS, FAILURES, AND WHAT ACTUALLY MOVED THE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4712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E6EDF6"/>
                </a:solidFill>
                <a:latin typeface="Calibri"/>
              </a:rPr>
              <a:t>Score tripled on the real platform — but 2 of 3 "improvements" that looked good locally failed on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494A8"/>
                </a:solidFill>
                <a:latin typeface="Calibri"/>
              </a:rPr>
              <a:t>Consistent root cause: our local metric under-punishes false alarms. The platform doesn't.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2724912" cy="777240"/>
          </a:xfrm>
          <a:prstGeom prst="rect">
            <a:avLst/>
          </a:prstGeom>
          <a:solidFill>
            <a:srgbClr val="1D2836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36576" cy="77724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4767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6EDF6"/>
                </a:solidFill>
                <a:latin typeface="Consolas"/>
              </a:rPr>
              <a:t>29.4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4505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494A8"/>
                </a:solidFill>
                <a:latin typeface="Calibri"/>
              </a:rPr>
              <a:t>v1 — first real submission, uniform thresholds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874519"/>
            <a:ext cx="2724912" cy="777240"/>
          </a:xfrm>
          <a:prstGeom prst="rect">
            <a:avLst/>
          </a:prstGeom>
          <a:solidFill>
            <a:srgbClr val="1D2836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3552" y="1874519"/>
            <a:ext cx="36576" cy="77724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94767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6EDF6"/>
                </a:solidFill>
                <a:latin typeface="Consolas"/>
              </a:rPr>
              <a:t>39.3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31720"/>
            <a:ext cx="24505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494A8"/>
                </a:solidFill>
                <a:latin typeface="Calibri"/>
              </a:rPr>
              <a:t>v2 — per-level policy (loose L1, strict L2/3)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1874519"/>
            <a:ext cx="2724912" cy="777240"/>
          </a:xfrm>
          <a:prstGeom prst="rect">
            <a:avLst/>
          </a:prstGeom>
          <a:solidFill>
            <a:srgbClr val="1D2836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9904" y="1874519"/>
            <a:ext cx="36576" cy="777240"/>
          </a:xfrm>
          <a:prstGeom prst="rect">
            <a:avLst/>
          </a:prstGeom>
          <a:solidFill>
            <a:srgbClr val="45C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194767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6EDF6"/>
                </a:solidFill>
                <a:latin typeface="Consolas"/>
              </a:rPr>
              <a:t>43.4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331720"/>
            <a:ext cx="24505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494A8"/>
                </a:solidFill>
                <a:latin typeface="Calibri"/>
              </a:rPr>
              <a:t>v3 — + Cosmos confidence gate, SHIPPED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06256" y="1874519"/>
            <a:ext cx="2724912" cy="777240"/>
          </a:xfrm>
          <a:prstGeom prst="rect">
            <a:avLst/>
          </a:prstGeom>
          <a:solidFill>
            <a:srgbClr val="1D2836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874519"/>
            <a:ext cx="36576" cy="77724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94767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6EDF6"/>
                </a:solidFill>
                <a:latin typeface="Consolas"/>
              </a:rPr>
              <a:t>0.669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331720"/>
            <a:ext cx="24505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494A8"/>
                </a:solidFill>
                <a:latin typeface="Calibri"/>
              </a:rPr>
              <a:t>measured ceiling once class-naming is fixed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5989320" cy="3493008"/>
          </a:xfrm>
          <a:prstGeom prst="rect">
            <a:avLst/>
          </a:prstGeom>
          <a:solidFill>
            <a:srgbClr val="1D2836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008376"/>
            <a:ext cx="5660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494A8"/>
                </a:solidFill>
                <a:latin typeface="Consolas"/>
              </a:rPr>
              <a:t>SAME SECOND MODEL, TWO ROLES — ONLY ONE SURVIVED THE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383280"/>
            <a:ext cx="56601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45C2A0"/>
                </a:solidFill>
                <a:latin typeface="Calibri"/>
              </a:rPr>
              <a:t>SHIPPED  </a:t>
            </a:r>
            <a:r>
              <a:rPr sz="1050" b="1">
                <a:solidFill>
                  <a:srgbClr val="E6EDF6"/>
                </a:solidFill>
                <a:latin typeface="Calibri"/>
              </a:rPr>
              <a:t>Cosmos as a confidence gate: </a:t>
            </a:r>
            <a:r>
              <a:rPr sz="1050" b="0">
                <a:solidFill>
                  <a:srgbClr val="8494A8"/>
                </a:solidFill>
                <a:latin typeface="Calibri"/>
              </a:rPr>
              <a:t>only trust Qwen's "anomalous" call if Cosmos independently clears 95% confidence on that exact window.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494A8"/>
                </a:solidFill>
                <a:latin typeface="Calibri"/>
              </a:rPr>
              <a:t>L3 0.150 -&gt; </a:t>
            </a:r>
            <a:r>
              <a:rPr sz="1050" b="1">
                <a:solidFill>
                  <a:srgbClr val="45C2A0"/>
                </a:solidFill>
                <a:latin typeface="Calibri"/>
              </a:rPr>
              <a:t>0.249</a:t>
            </a:r>
            <a:r>
              <a:rPr sz="1050" b="0">
                <a:solidFill>
                  <a:srgbClr val="8494A8"/>
                </a:solidFill>
                <a:latin typeface="Calibri"/>
              </a:rPr>
              <a:t>, overall 0.367 -&gt; </a:t>
            </a:r>
            <a:r>
              <a:rPr sz="1050" b="1">
                <a:solidFill>
                  <a:srgbClr val="45C2A0"/>
                </a:solidFill>
                <a:latin typeface="Calibri"/>
              </a:rPr>
              <a:t>0.400</a:t>
            </a:r>
            <a:r>
              <a:rPr sz="1050" b="0">
                <a:solidFill>
                  <a:srgbClr val="8494A8"/>
                </a:solidFill>
                <a:latin typeface="Calibri"/>
              </a:rPr>
              <a:t> — one messy blob split into a real IoU-0.82 match, 7 noisy fragments filtered to 2, one mistimed event removed clean.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892040"/>
            <a:ext cx="566013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5C5C"/>
                </a:solidFill>
                <a:latin typeface="Calibri"/>
              </a:rPr>
              <a:t>FAILED LIVE  </a:t>
            </a:r>
            <a:r>
              <a:rPr sz="1050" b="1">
                <a:solidFill>
                  <a:srgbClr val="E6EDF6"/>
                </a:solidFill>
                <a:latin typeface="Calibri"/>
              </a:rPr>
              <a:t>Cosmos as the Level-1 classifier: </a:t>
            </a:r>
            <a:r>
              <a:rPr sz="1050" b="0">
                <a:solidFill>
                  <a:srgbClr val="8494A8"/>
                </a:solidFill>
                <a:latin typeface="Calibri"/>
              </a:rPr>
              <a:t>measured better locally (0.617 vs Qwen's 0.550, both components up) — </a:t>
            </a:r>
            <a:r>
              <a:rPr sz="1050" b="1">
                <a:solidFill>
                  <a:srgbClr val="FF5C5C"/>
                </a:solidFill>
                <a:latin typeface="Calibri"/>
              </a:rPr>
              <a:t>uploaded anyway, score dropped.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494A8"/>
                </a:solidFill>
                <a:latin typeface="Calibri"/>
              </a:rPr>
              <a:t>Cosmos fired on 22/24 videos and wrecked 3 of 4 true-normal ones. Third time a local-only gain failed live; now we check false-alarm count directly before trusting any local number.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11112" y="2880360"/>
            <a:ext cx="5120640" cy="3493008"/>
          </a:xfrm>
          <a:prstGeom prst="rect">
            <a:avLst/>
          </a:prstGeom>
          <a:solidFill>
            <a:srgbClr val="1D2836"/>
          </a:solidFill>
          <a:ln w="9525">
            <a:solidFill>
              <a:srgbClr val="2A38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75704" y="3008376"/>
            <a:ext cx="479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494A8"/>
                </a:solidFill>
                <a:latin typeface="Consolas"/>
              </a:rPr>
              <a:t>THE DEEPEST FINDING: LOCALISATION IS SOLVED, NAMING THE CLASS IS THE CEILING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775704" y="3337560"/>
          <a:ext cx="4389120" cy="1051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1234440"/>
                <a:gridCol w="1234440"/>
              </a:tblGrid>
              <a:tr h="2628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8494A8"/>
                          </a:solidFill>
                          <a:latin typeface="Calibri"/>
                        </a:rPr>
                        <a:t>TRUE CLASS</a:t>
                      </a:r>
                    </a:p>
                  </a:txBody>
                  <a:tcPr marL="54864" marR="54864" marT="18288" marB="18288" anchor="ctr">
                    <a:solidFill>
                      <a:srgbClr val="1D28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8494A8"/>
                          </a:solidFill>
                          <a:latin typeface="Calibri"/>
                        </a:rPr>
                        <a:t>MODEL FIRES</a:t>
                      </a:r>
                    </a:p>
                  </a:txBody>
                  <a:tcPr marL="54864" marR="54864" marT="18288" marB="18288" anchor="ctr">
                    <a:solidFill>
                      <a:srgbClr val="1D28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8494A8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 marL="54864" marR="54864" marT="18288" marB="18288" anchor="ctr">
                    <a:solidFill>
                      <a:srgbClr val="1D283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6"/>
                          </a:solidFill>
                          <a:latin typeface="Calibri"/>
                        </a:rPr>
                        <a:t>traffic_congestion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45C2A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45C2A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6"/>
                          </a:solidFill>
                          <a:latin typeface="Calibri"/>
                        </a:rPr>
                        <a:t>traffic_accident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6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5C5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6"/>
                          </a:solidFill>
                          <a:latin typeface="Calibri"/>
                        </a:rPr>
                        <a:t>loitering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5C5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5C5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161F2B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775704" y="4572000"/>
            <a:ext cx="479145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E6EDF6"/>
                </a:solidFill>
                <a:latin typeface="Calibri"/>
              </a:rPr>
              <a:t>An unsupervised, zero-training novelty score </a:t>
            </a:r>
            <a:r>
              <a:rPr sz="1050" b="0">
                <a:solidFill>
                  <a:srgbClr val="8494A8"/>
                </a:solidFill>
                <a:latin typeface="Calibri"/>
              </a:rPr>
              <a:t>(how different a window looks from the rest of its own video) reaches </a:t>
            </a:r>
            <a:r>
              <a:rPr sz="1050" b="1">
                <a:solidFill>
                  <a:srgbClr val="45C2A0"/>
                </a:solidFill>
                <a:latin typeface="Calibri"/>
              </a:rPr>
              <a:t>AUC 0.864</a:t>
            </a:r>
            <a:r>
              <a:rPr sz="1050" b="0">
                <a:solidFill>
                  <a:srgbClr val="8494A8"/>
                </a:solidFill>
                <a:latin typeface="Calibri"/>
              </a:rPr>
              <a:t> for accidents — where the fine-tuned model scores </a:t>
            </a:r>
            <a:r>
              <a:rPr sz="1050" b="1">
                <a:solidFill>
                  <a:srgbClr val="FF5C5C"/>
                </a:solidFill>
                <a:latin typeface="Calibri"/>
              </a:rPr>
              <a:t>0/79</a:t>
            </a:r>
            <a:r>
              <a:rPr sz="1050" b="0">
                <a:solidFill>
                  <a:srgbClr val="8494A8"/>
                </a:solidFill>
                <a:latin typeface="Calibri"/>
              </a:rPr>
              <a:t> on the same windows.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8494A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494A8"/>
                </a:solidFill>
                <a:latin typeface="Calibri"/>
              </a:rPr>
              <a:t>With the class assumed known, that localiser alone reaches </a:t>
            </a:r>
            <a:r>
              <a:rPr sz="1050" b="1">
                <a:solidFill>
                  <a:srgbClr val="E6EDF6"/>
                </a:solidFill>
                <a:latin typeface="Calibri"/>
              </a:rPr>
              <a:t>8 matched events</a:t>
            </a:r>
            <a:r>
              <a:rPr sz="1050" b="0">
                <a:solidFill>
                  <a:srgbClr val="8494A8"/>
                </a:solidFill>
                <a:latin typeface="Calibri"/>
              </a:rPr>
              <a:t> (vs our shipped 1). Root cause: trained on </a:t>
            </a:r>
            <a:r>
              <a:rPr sz="1050" b="1">
                <a:solidFill>
                  <a:srgbClr val="FF5C5C"/>
                </a:solidFill>
                <a:latin typeface="Calibri"/>
              </a:rPr>
              <a:t>560 of 14,157</a:t>
            </a:r>
            <a:r>
              <a:rPr sz="1050" b="0">
                <a:solidFill>
                  <a:srgbClr val="8494A8"/>
                </a:solidFill>
                <a:latin typeface="Calibri"/>
              </a:rPr>
              <a:t> labelled windows available (~4%) — the fix is more training data, not more tuning.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2A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494A8"/>
                </a:solidFill>
                <a:latin typeface="Consolas"/>
              </a:rPr>
              <a:t>windows labelled by temporal overlap · scores from token logprobs · best-of scoring confirmed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565392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494A8"/>
                </a:solidFill>
                <a:latin typeface="Consolas"/>
              </a:rPr>
              <a:t>next: retrain on the full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